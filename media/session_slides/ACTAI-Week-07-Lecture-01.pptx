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(2 min). Project weeks. So far your apps live on your screen only. Today: two superpowers — GitHub (save, back up, share your code) and Vercel (put it online with a real link). By the end, your project is live on the internet.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Four concrete wins. The last one — a live URL — is the emotional hook for a project week. Everything today builds to putting their app online where friends and family can open it.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Everyone has lost work or kept 'final_v3_REAL.doc' files. Version control solves that: named snapshots of the whole project, full history, safe undo. That's what Git does.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The #1 confusion. Git = tool on your machine; GitHub = cloud website that hosts Git projects. Camera vs photo album is the sticky analogy. GitLab/Bitbucket exist too, but we'll use GitHub.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Five words demystified. Commit = save; push = upload; pull = download; clone = copy. GitHub Desktop turns all of these into buttons, so they won't memorise commands — just the ideas.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DEMO signing up (or note most may already have an account). Username tip matters — it appears in repo URLs and their live links. Free plan is all they need.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DEMO install + sign in. Emphasise: no scary terminal. GitHub Desktop is a friendly window over Git. Mention command-line git exists for those who want it, but we won't need it.</a:t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DEMO creating a repo. If their vibe-coded app is already a folder, use 'Add Local Repository' instead. Show 'Show in Finder/Explorer' to drop files into the repo folder. Keep it concrete with a real project.</a:t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DEMO the first commit. The commit message is a note-to-future-self. Stress the habit: commit whenever you finish a small chunk. Nothing is on GitHub yet — that's the next step (push).</a:t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DEMO publish — then open View on GitHub to show the code now living in the cloud. Land the everyday loop: edit → commit → push. That loop is the whole of day-to-day Git. Now on to putting it live.</a:t>
            </a:r>
            <a:endParaRPr/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Vercel is the bridge from 'code on GitHub' to 'website on the internet.' Free Hobby plan, fast global hosting, automatic HTTPS, and — the magic — it redeploys automatically every time you push. Let's connect it.</a:t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DEMO 'Continue with GitHub' — the one-click link that lets Vercel read your repos. Grant access to the repo you just published (or all). Stay on the free Hobby plan.</a:t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 — the payoff. DEMO import + deploy live. Watch the build, then open the URL — the app is on the real internet. Big moment. Note vibe-coded static/React apps just work; confirm the framework preset if asked.</a:t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The 'wow' of the whole lecture. DEMO: change one line in the app, commit, push — then watch Vercel redeploy and the live site update on its own. This is professional CI/CD, and they get it free. Mention preview links and rollback as bonuses.</a:t>
            </a:r>
            <a:endParaRPr/>
          </a:p>
        </p:txBody>
      </p:sp>
      <p:sp>
        <p:nvSpPr>
          <p:cNvPr id="298" name="Google Shape;2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The mental model on one slide. Setup happens once; the daily rhythm is just edit → commit → push, and Vercel does the rest. Have students screenshot this.</a:t>
            </a:r>
            <a:endParaRPr/>
          </a:p>
        </p:txBody>
      </p:sp>
      <p:sp>
        <p:nvSpPr>
          <p:cNvPr id="320" name="Google Shape;32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The free tier is genuinely enough to ship real projects. Custom domains are free to connect (you just buy the domain name itself). Great for a portfolio: yourname.com pointing at their project.</a:t>
            </a:r>
            <a:endParaRPr/>
          </a:p>
        </p:txBody>
      </p:sp>
      <p:sp>
        <p:nvSpPr>
          <p:cNvPr id="357" name="Google Shape;35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The safety close. The .gitignore/secrets point is the big one — leaked API keys are the classic beginner mistake. Ask your vibe tool to 'add a .gitignore for secrets'. Clear commits + local testing round it out.</a:t>
            </a:r>
            <a:endParaRPr/>
          </a:p>
        </p:txBody>
      </p:sp>
      <p:sp>
        <p:nvSpPr>
          <p:cNvPr id="374" name="Google Shape;3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Celebrate: they can now ship. Recap the loop (commit → push → auto-deploy). Homework is the real deliverable: a live link they can put on a CV or send to family. This sets up the rest of the project weeks.</a:t>
            </a:r>
            <a:endParaRPr/>
          </a:p>
        </p:txBody>
      </p:sp>
      <p:sp>
        <p:nvSpPr>
          <p:cNvPr id="406" name="Google Shape;40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5.png"/><Relationship Id="rId5" Type="http://schemas.openxmlformats.org/officeDocument/2006/relationships/image" Target="../media/image29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41.png"/><Relationship Id="rId7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412480" y="-2011680"/>
            <a:ext cx="6217920" cy="6217920"/>
          </a:xfrm>
          <a:prstGeom prst="ellipse">
            <a:avLst/>
          </a:prstGeom>
          <a:solidFill>
            <a:srgbClr val="4F46E5">
              <a:alpha val="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0" y="2651760"/>
            <a:ext cx="5486400" cy="5486400"/>
          </a:xfrm>
          <a:prstGeom prst="ellipse">
            <a:avLst/>
          </a:prstGeom>
          <a:solidFill>
            <a:srgbClr val="0891B2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1371600"/>
            <a:ext cx="1051560" cy="1051560"/>
          </a:xfrm>
          <a:prstGeom prst="ellipse">
            <a:avLst/>
          </a:prstGeom>
          <a:solidFill>
            <a:srgbClr val="0F172A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970" y="1634490"/>
            <a:ext cx="525780" cy="5257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640080" y="2697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ACTAI  ·  WEEK 07  ·  LECTURE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2971800"/>
            <a:ext cx="11155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Git, GitHub &amp; Going Live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41148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50"/>
              <a:buFont typeface="Calibri"/>
              <a:buNone/>
            </a:pPr>
            <a:r>
              <a:rPr b="0" i="0" lang="en-US" sz="1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Save your project properly, put it on GitHub, and deploy it to a real URL with Vercel.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640080" y="5029200"/>
            <a:ext cx="5029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640080" y="51663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 hands-on setup lecture — follow along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WHY BOTHER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this gives you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874520"/>
            <a:ext cx="5248656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005840" y="2258568"/>
            <a:ext cx="685800" cy="68580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290" y="243001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874520" y="2194560"/>
            <a:ext cx="3785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 backup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74520" y="2743200"/>
            <a:ext cx="3785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work is safe in the cloud, not just on one laptop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300216" y="1874520"/>
            <a:ext cx="5248656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665976" y="2258568"/>
            <a:ext cx="685800" cy="685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7426" y="243001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7534656" y="2194560"/>
            <a:ext cx="3785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 time machine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534656" y="2743200"/>
            <a:ext cx="3785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jump back to any earlier version if something breaks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" y="3886200"/>
            <a:ext cx="5248656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005840" y="4270248"/>
            <a:ext cx="685800" cy="68580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7290" y="444169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1874520" y="4206240"/>
            <a:ext cx="3785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Easy sharing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874520" y="4754880"/>
            <a:ext cx="3785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send a link; let others see or build with you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300216" y="3886200"/>
            <a:ext cx="5248656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665976" y="4270248"/>
            <a:ext cx="685800" cy="68580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7426" y="444169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7534656" y="4206240"/>
            <a:ext cx="3785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 live website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534656" y="4754880"/>
            <a:ext cx="3785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real URL anyone can open — not just you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IDEA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version control?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1828800"/>
            <a:ext cx="10908792" cy="1417320"/>
          </a:xfrm>
          <a:prstGeom prst="roundRect">
            <a:avLst>
              <a:gd fmla="val 7742" name="adj"/>
            </a:avLst>
          </a:prstGeom>
          <a:solidFill>
            <a:srgbClr val="F3ECFE"/>
          </a:solidFill>
          <a:ln cap="flat" cmpd="sng" w="12700">
            <a:solidFill>
              <a:srgbClr val="E2D2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097280" y="219456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732" y="2382012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2194560" y="2194560"/>
            <a:ext cx="8805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Version control takes labelled snapshots of your whole project, so you can always see what changed and go back.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3657600"/>
            <a:ext cx="3361944" cy="178308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60120" y="39776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140" y="41376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1737360" y="3968496"/>
            <a:ext cx="2081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Save points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60120" y="4572000"/>
            <a:ext cx="2813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snapshots you name and keep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413504" y="3657600"/>
            <a:ext cx="3361944" cy="178308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733544" y="39776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3564" y="41376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5510784" y="3968496"/>
            <a:ext cx="2081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Full history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33544" y="4572000"/>
            <a:ext cx="2813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see every change over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186928" y="3657600"/>
            <a:ext cx="3361944" cy="178308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506968" y="397764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6988" y="41376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9284208" y="3968496"/>
            <a:ext cx="2081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Undo safely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506968" y="4572000"/>
            <a:ext cx="2813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roll back to any point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Like 'Save As' for your entire project — but automatic, named, and unlimited.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CLEAR THIS UP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Git vs GitHub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40080" y="1920240"/>
            <a:ext cx="5225796" cy="2834640"/>
          </a:xfrm>
          <a:prstGeom prst="roundRect">
            <a:avLst>
              <a:gd fmla="val 3871" name="adj"/>
            </a:avLst>
          </a:prstGeom>
          <a:solidFill>
            <a:srgbClr val="F3ECFE"/>
          </a:solidFill>
          <a:ln cap="flat" cmpd="sng" w="12700">
            <a:solidFill>
              <a:srgbClr val="E2D2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051560" y="2286000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870" y="24803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2057400" y="2331720"/>
            <a:ext cx="35798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Git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097280" y="3154680"/>
            <a:ext cx="43113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tool. Runs on your computer and tracks every save point in your project. Works offline.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97280" y="4160520"/>
            <a:ext cx="43113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Think: the camera that takes the snapshots.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323076" y="1920240"/>
            <a:ext cx="5225796" cy="2834640"/>
          </a:xfrm>
          <a:prstGeom prst="roundRect">
            <a:avLst>
              <a:gd fmla="val 3871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734556" y="2286000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8866" y="24803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7740396" y="2331720"/>
            <a:ext cx="35798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GitHub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780276" y="3154680"/>
            <a:ext cx="43113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place. A website that stores your Git projects in the cloud — backed up, shareable, everywhere.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780276" y="4160520"/>
            <a:ext cx="43113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Think: the cloud photo album that stores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Git saves your work; GitHub puts those saves online. (GitHub isn't the only host — but it's the most popular.)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WORDS YOU'LL HEAR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Git vocabulary, in plain English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0080" y="1737360"/>
            <a:ext cx="10908792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14400" y="1883664"/>
            <a:ext cx="493776" cy="493776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" y="200710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645920" y="17373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 (repo)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0" y="1737360"/>
            <a:ext cx="6336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project's folder plus its full history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40080" y="2633472"/>
            <a:ext cx="10908792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914400" y="2779776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844" y="290322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1645920" y="2633472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029200" y="2633472"/>
            <a:ext cx="6336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saved snapshot, with a short message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0080" y="3529584"/>
            <a:ext cx="10908792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914400" y="3675888"/>
            <a:ext cx="493776" cy="493776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7844" y="379933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1645920" y="3529584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Push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029200" y="3529584"/>
            <a:ext cx="6336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upload your commits to GitHub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40080" y="4425696"/>
            <a:ext cx="10908792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914400" y="457200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844" y="469544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1645920" y="4425696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Pull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029200" y="4425696"/>
            <a:ext cx="6336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download changes from GitHub to your computer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40080" y="5321808"/>
            <a:ext cx="10908792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914400" y="5468112"/>
            <a:ext cx="493776" cy="493776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7844" y="55915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1645920" y="5321808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Clone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0" y="5321808"/>
            <a:ext cx="6336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make a copy of a GitHub repo onto your computer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STEP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 GitHub account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40080" y="1828800"/>
            <a:ext cx="676656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1097280" y="2148840"/>
            <a:ext cx="5943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1" i="0" lang="en-US" sz="15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github.com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Sign 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 email, password, and a username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Verify (puzzle + code emailed to you)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5.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the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plan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6.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You're in — this is your code's home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543800" y="182880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0" y="2308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Free forever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863840" y="27889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Public and private repositories are both free. No card needed.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543800" y="370332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0" y="4183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8686800" y="4023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Pick a good username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863840" y="46634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shows up in your project links, so keep it clean and professional.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STEP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Install GitHub Desktop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40080" y="1828800"/>
            <a:ext cx="676656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097280" y="2148840"/>
            <a:ext cx="5943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1" i="0" lang="en-US" sz="15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desktop.github.com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Download for Windows or macOS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Install and open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Sign in with your GitHub account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5.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Done — a visual Git, no typing commands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543800" y="182880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F3ECFE"/>
          </a:solidFill>
          <a:ln cap="flat" cmpd="sng" w="12700">
            <a:solidFill>
              <a:srgbClr val="E2D2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0" y="2308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No command 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863840" y="27889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GitHub Desktop turns push, pull and commit into simple buttons.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543800" y="370332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FEF3E2"/>
          </a:solidFill>
          <a:ln cap="flat" cmpd="sng" w="12700">
            <a:solidFill>
              <a:srgbClr val="F7DFB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0" y="4183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8686800" y="4023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Coders, note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7863840" y="46634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If you know the terminal, plain 'git' commands do the same thing.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STEP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Put your project in a repository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640080" y="1828800"/>
            <a:ext cx="676656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1097280" y="2148840"/>
            <a:ext cx="5943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 GitHub Desktop: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File → New Repository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Name it (e.g.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my-portfolio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where to save it on your computer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Create Repository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5.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Copy your app's files into that folder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7543800" y="182880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0" y="2308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a repo?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863840" y="27889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project folder + its whole history, tracked by Git.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7543800" y="370332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0" y="4183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8686800" y="4023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Already have a folder?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863840" y="46634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 File → Add Local Repository to track an existing project.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STEP 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Commit: save a snapshot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40080" y="1828800"/>
            <a:ext cx="676656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1097280" y="2148840"/>
            <a:ext cx="5943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Your files now show in the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Changes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tab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Tick the files to include (usually all)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Write a short summary, e.g. </a:t>
            </a:r>
            <a:r>
              <a:rPr b="0" i="1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“Initial version”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Commit to 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543800" y="182880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F3ECFE"/>
          </a:solidFill>
          <a:ln cap="flat" cmpd="sng" w="12700">
            <a:solidFill>
              <a:srgbClr val="E2D2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0" y="2308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 commit = a save 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863840" y="27889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Named and dated. You can return to it anytime later.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543800" y="370332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0" y="4183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8686800" y="4023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often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7863840" y="46634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Small, frequent commits with clear messages make history useful.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STEP 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Publish: push it to GitHub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40080" y="1828800"/>
            <a:ext cx="676656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1097280" y="2148840"/>
            <a:ext cx="5943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Publish repository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(top bar)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(both free)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Publish — your code is now on GitHub!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Then, every time you work: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commit → Push origin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7543800" y="182880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5F4F8"/>
          </a:solidFill>
          <a:ln cap="flat" cmpd="sng" w="12700">
            <a:solidFill>
              <a:srgbClr val="BFE3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0" y="2308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That's 'push'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863840" y="27889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Publishing uploads your commits to GitHub.com. Afterwards the button becomes Push.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7543800" y="370332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0" y="4183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8686800" y="4023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See it online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7863840" y="46634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Click 'View on GitHub' to open your repo in the browser.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PART 2 · GO 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Meet Vercel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40080" y="1828800"/>
            <a:ext cx="10908792" cy="1371600"/>
          </a:xfrm>
          <a:prstGeom prst="roundRect">
            <a:avLst>
              <a:gd fmla="val 8000" name="adj"/>
            </a:avLst>
          </a:prstGeom>
          <a:solidFill>
            <a:srgbClr val="E5F4F8"/>
          </a:solidFill>
          <a:ln cap="flat" cmpd="sng" w="12700">
            <a:solidFill>
              <a:srgbClr val="BFE3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1097280" y="2121408"/>
            <a:ext cx="749808" cy="749808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732" y="2308860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/>
          <p:nvPr/>
        </p:nvSpPr>
        <p:spPr>
          <a:xfrm>
            <a:off x="2194560" y="2121408"/>
            <a:ext cx="8805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Vercel takes your GitHub repo and turns it into a live website with its own URL — for free.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40080" y="3429000"/>
            <a:ext cx="2452878" cy="18288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1537335" y="3749040"/>
            <a:ext cx="658368" cy="658368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1927" y="39136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/>
          <p:nvPr/>
        </p:nvSpPr>
        <p:spPr>
          <a:xfrm>
            <a:off x="731520" y="4526280"/>
            <a:ext cx="2269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Real URL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749808" y="4873752"/>
            <a:ext cx="2233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yourapp.vercel.app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458718" y="3429000"/>
            <a:ext cx="2452878" cy="18288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4355973" y="3749040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0565" y="39136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/>
          <p:nvPr/>
        </p:nvSpPr>
        <p:spPr>
          <a:xfrm>
            <a:off x="3550158" y="4526280"/>
            <a:ext cx="2269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Fast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568446" y="4873752"/>
            <a:ext cx="2233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served worldwide, instantly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6277356" y="3429000"/>
            <a:ext cx="2452878" cy="18288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7174611" y="3749040"/>
            <a:ext cx="658368" cy="658368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9203" y="39136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/>
          <p:nvPr/>
        </p:nvSpPr>
        <p:spPr>
          <a:xfrm>
            <a:off x="6368796" y="4526280"/>
            <a:ext cx="2269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Secure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387084" y="4873752"/>
            <a:ext cx="2233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HTTPS added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9095994" y="3429000"/>
            <a:ext cx="2452878" cy="18288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9993249" y="37490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57841" y="39136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/>
          <p:nvPr/>
        </p:nvSpPr>
        <p:spPr>
          <a:xfrm>
            <a:off x="9187434" y="4526280"/>
            <a:ext cx="2269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Auto-updates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9205722" y="4873752"/>
            <a:ext cx="2233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redeploys when you push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STEP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Sign up to Vercel with GitHub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640080" y="1828800"/>
            <a:ext cx="676656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1097280" y="2148840"/>
            <a:ext cx="5943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1" i="0" lang="en-US" sz="15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vercel.com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Sign 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Continue with 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Authorize Vercel to access your repos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repos or just the ones you choose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7543800" y="182880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0" y="2308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4"/>
          <p:cNvSpPr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Why sign in with GitHub?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7863840" y="27889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links the two automatically — Vercel can then see your repositories.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7543800" y="370332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0" y="4183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4"/>
          <p:cNvSpPr/>
          <p:nvPr/>
        </p:nvSpPr>
        <p:spPr>
          <a:xfrm>
            <a:off x="8686800" y="4023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Free Hobby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7863840" y="46634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card needed for personal projects. That's what we're 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STEP 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Import your repo &amp; deploy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40080" y="1828800"/>
            <a:ext cx="6766560" cy="370332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1097280" y="2148840"/>
            <a:ext cx="5943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Vercel dashboard →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New Project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Find your repo → click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Vercel auto-detects your framework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5.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Wait ~30–60s → you get a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live URL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7543800" y="182880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0" y="2308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/>
          <p:nvPr/>
        </p:nvSpPr>
        <p:spPr>
          <a:xfrm>
            <a:off x="86868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It's live!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7863840" y="27889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app is on the internet at yourapp.vercel.app — share it with anyone.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7543800" y="3703320"/>
            <a:ext cx="4005072" cy="1691640"/>
          </a:xfrm>
          <a:prstGeom prst="roundRect">
            <a:avLst>
              <a:gd fmla="val 6486" name="adj"/>
            </a:avLst>
          </a:prstGeom>
          <a:solidFill>
            <a:srgbClr val="E5F4F8"/>
          </a:solidFill>
          <a:ln cap="flat" cmpd="sng" w="12700">
            <a:solidFill>
              <a:srgbClr val="BFE3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7863840" y="402336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0" y="4183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8686800" y="4023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Vibe-coded app?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7863840" y="46634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Static sites and React apps deploy as-is. Some tools even export to GitHub for you.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THE MAGIC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Auto-deployment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640080" y="1828800"/>
            <a:ext cx="10908792" cy="1417320"/>
          </a:xfrm>
          <a:prstGeom prst="roundRect">
            <a:avLst>
              <a:gd fmla="val 7742" name="adj"/>
            </a:avLst>
          </a:prstGeom>
          <a:solidFill>
            <a:srgbClr val="E5F4F8"/>
          </a:solidFill>
          <a:ln cap="flat" cmpd="sng" w="12700">
            <a:solidFill>
              <a:srgbClr val="BFE3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1097280" y="2194560"/>
            <a:ext cx="749808" cy="749808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732" y="2382012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/>
          <p:nvPr/>
        </p:nvSpPr>
        <p:spPr>
          <a:xfrm>
            <a:off x="2194560" y="2194560"/>
            <a:ext cx="88056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From now on, every push to GitHub automatically rebuilds and updates your live site. No manual steps.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40080" y="3520440"/>
            <a:ext cx="10908792" cy="1280160"/>
          </a:xfrm>
          <a:prstGeom prst="roundRect">
            <a:avLst>
              <a:gd fmla="val 7143" name="adj"/>
            </a:avLst>
          </a:prstGeom>
          <a:solidFill>
            <a:srgbClr val="E5F4F8"/>
          </a:solidFill>
          <a:ln cap="flat" cmpd="sng" w="12700">
            <a:solidFill>
              <a:srgbClr val="BF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868680" y="3648456"/>
            <a:ext cx="10451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YOUR NEW EVERYDAY LOOP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68680" y="3959352"/>
            <a:ext cx="104515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edit your app  →  commit  →  push to GitHub  →  (Vercel auto-deploys)  →  live URL updates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40080" y="4937760"/>
            <a:ext cx="5225796" cy="868680"/>
          </a:xfrm>
          <a:prstGeom prst="roundRect">
            <a:avLst>
              <a:gd fmla="val 10526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130" y="52463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6"/>
          <p:cNvSpPr/>
          <p:nvPr/>
        </p:nvSpPr>
        <p:spPr>
          <a:xfrm>
            <a:off x="1600200" y="4937760"/>
            <a:ext cx="41285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Preview links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testing before going live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6323076" y="4937760"/>
            <a:ext cx="5225796" cy="868680"/>
          </a:xfrm>
          <a:prstGeom prst="roundRect">
            <a:avLst>
              <a:gd fmla="val 10526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6597396" y="512064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3126" y="52463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6"/>
          <p:cNvSpPr/>
          <p:nvPr/>
        </p:nvSpPr>
        <p:spPr>
          <a:xfrm>
            <a:off x="7283196" y="4937760"/>
            <a:ext cx="41285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Instant rollback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revert to a working version fast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WHOLE PICTURE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Your project's journey online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640080" y="2377440"/>
            <a:ext cx="2050085" cy="2468880"/>
          </a:xfrm>
          <a:prstGeom prst="roundRect">
            <a:avLst>
              <a:gd fmla="val 535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1299362" y="274320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242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/>
          <p:nvPr/>
        </p:nvSpPr>
        <p:spPr>
          <a:xfrm>
            <a:off x="685800" y="3657600"/>
            <a:ext cx="195864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Edit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685800" y="4069080"/>
            <a:ext cx="195864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2644445" y="2926080"/>
            <a:ext cx="256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2854757" y="2377440"/>
            <a:ext cx="2050085" cy="2468880"/>
          </a:xfrm>
          <a:prstGeom prst="roundRect">
            <a:avLst>
              <a:gd fmla="val 535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3514039" y="27432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6919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7"/>
          <p:cNvSpPr/>
          <p:nvPr/>
        </p:nvSpPr>
        <p:spPr>
          <a:xfrm>
            <a:off x="2900477" y="3657600"/>
            <a:ext cx="195864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2900477" y="4069080"/>
            <a:ext cx="195864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save a snapshot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4859122" y="2926080"/>
            <a:ext cx="256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5069434" y="2377440"/>
            <a:ext cx="2050085" cy="2468880"/>
          </a:xfrm>
          <a:prstGeom prst="roundRect">
            <a:avLst>
              <a:gd fmla="val 535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5728716" y="2743200"/>
            <a:ext cx="731520" cy="731520"/>
          </a:xfrm>
          <a:prstGeom prst="ellipse">
            <a:avLst/>
          </a:prstGeom>
          <a:solidFill>
            <a:srgbClr val="0F172A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1596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7"/>
          <p:cNvSpPr/>
          <p:nvPr/>
        </p:nvSpPr>
        <p:spPr>
          <a:xfrm>
            <a:off x="5115154" y="3657600"/>
            <a:ext cx="195864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Push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115154" y="4069080"/>
            <a:ext cx="195864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 GitHub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7073798" y="2926080"/>
            <a:ext cx="256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7284110" y="2377440"/>
            <a:ext cx="2050085" cy="2468880"/>
          </a:xfrm>
          <a:prstGeom prst="roundRect">
            <a:avLst>
              <a:gd fmla="val 535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7943393" y="2743200"/>
            <a:ext cx="731520" cy="73152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6273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7329830" y="3657600"/>
            <a:ext cx="195864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Vercel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7329830" y="4069080"/>
            <a:ext cx="195864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auto-builds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9288475" y="2926080"/>
            <a:ext cx="256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9498787" y="2377440"/>
            <a:ext cx="2050085" cy="2468880"/>
          </a:xfrm>
          <a:prstGeom prst="roundRect">
            <a:avLst>
              <a:gd fmla="val 535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10158070" y="274320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4095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7"/>
          <p:cNvSpPr/>
          <p:nvPr/>
        </p:nvSpPr>
        <p:spPr>
          <a:xfrm>
            <a:off x="9544507" y="3657600"/>
            <a:ext cx="195864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Live!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9544507" y="4069080"/>
            <a:ext cx="195864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real URL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640080" y="516636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Do it once to set up. After that, you only ever repeat the first three — the rest is automatic.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BONUS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Custom domain &amp; the free plan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640080" y="1874520"/>
            <a:ext cx="5225796" cy="3108960"/>
          </a:xfrm>
          <a:prstGeom prst="roundRect">
            <a:avLst>
              <a:gd fmla="val 3529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1051560" y="2194560"/>
            <a:ext cx="713232" cy="713232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9868" y="2372868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8"/>
          <p:cNvSpPr/>
          <p:nvPr/>
        </p:nvSpPr>
        <p:spPr>
          <a:xfrm>
            <a:off x="1920240" y="2212848"/>
            <a:ext cx="37627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Vercel Hobby — free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1097280" y="2971800"/>
            <a:ext cx="431139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Unlimited personal projects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Automatic HTTPS on every site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Fast global delivery (CDN)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Auto-deploys + preview links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323076" y="1874520"/>
            <a:ext cx="5225796" cy="3108960"/>
          </a:xfrm>
          <a:prstGeom prst="roundRect">
            <a:avLst>
              <a:gd fmla="val 3529" name="adj"/>
            </a:avLst>
          </a:prstGeom>
          <a:solidFill>
            <a:srgbClr val="E5F4F8"/>
          </a:solidFill>
          <a:ln cap="flat" cmpd="sng" w="12700">
            <a:solidFill>
              <a:srgbClr val="BFE3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6734556" y="2194560"/>
            <a:ext cx="713232" cy="713232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864" y="2372868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8"/>
          <p:cNvSpPr/>
          <p:nvPr/>
        </p:nvSpPr>
        <p:spPr>
          <a:xfrm>
            <a:off x="7603236" y="2212848"/>
            <a:ext cx="37627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Your own domain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6780276" y="2971800"/>
            <a:ext cx="431139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Buy a domain (e.g. yourname.com)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it in Vercel → Settings → Domains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Update your DNS as Vercel shows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SSL is set up for you — free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11D48"/>
                </a:solidFill>
                <a:latin typeface="Trebuchet MS"/>
                <a:ea typeface="Trebuchet MS"/>
                <a:cs typeface="Trebuchet MS"/>
                <a:sym typeface="Trebuchet MS"/>
              </a:rPr>
              <a:t>DO IT RIGHT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Gotchas &amp; best practices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640080" y="187452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640080" y="198424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430" y="24345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9"/>
          <p:cNvSpPr/>
          <p:nvPr/>
        </p:nvSpPr>
        <p:spPr>
          <a:xfrm>
            <a:off x="1783080" y="219456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Never commit secrets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1783080" y="27889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Add a .gitignore; keep API keys and .env files out of GitHub.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6323076" y="187452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6323076" y="198424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6688836" y="228600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7426" y="24345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9"/>
          <p:cNvSpPr/>
          <p:nvPr/>
        </p:nvSpPr>
        <p:spPr>
          <a:xfrm>
            <a:off x="7466076" y="219456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Write clear commit messages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7466076" y="27889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'Fix login bug' beats 'stuff' — future-you will thank you.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640080" y="384048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/>
          <p:cNvSpPr/>
          <p:nvPr/>
        </p:nvSpPr>
        <p:spPr>
          <a:xfrm>
            <a:off x="640080" y="395020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1005840" y="425196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430" y="440055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9"/>
          <p:cNvSpPr/>
          <p:nvPr/>
        </p:nvSpPr>
        <p:spPr>
          <a:xfrm>
            <a:off x="1783080" y="41605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Test before you deploy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1783080" y="475488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Make sure it runs locally; a broken build won't go live.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6323076" y="384048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6323076" y="395020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6688836" y="425196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7426" y="440055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9"/>
          <p:cNvSpPr/>
          <p:nvPr/>
        </p:nvSpPr>
        <p:spPr>
          <a:xfrm>
            <a:off x="7466076" y="41605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Vercel = front-end &amp; serverless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7466076" y="475488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heavy backends (e.g. Python servers), use another host.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Golden rule: keep secrets out of GitHub. Once a key is pushed public, treat it as leaked.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0"/>
          <p:cNvSpPr/>
          <p:nvPr/>
        </p:nvSpPr>
        <p:spPr>
          <a:xfrm>
            <a:off x="7680960" y="-2377440"/>
            <a:ext cx="7132320" cy="7132320"/>
          </a:xfrm>
          <a:prstGeom prst="ellipse">
            <a:avLst/>
          </a:prstGeom>
          <a:solidFill>
            <a:srgbClr val="0891B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-2560320" y="2743200"/>
            <a:ext cx="6583680" cy="6583680"/>
          </a:xfrm>
          <a:prstGeom prst="ellipse">
            <a:avLst/>
          </a:prstGeom>
          <a:solidFill>
            <a:srgbClr val="4F46E5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6687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0"/>
          <p:cNvSpPr/>
          <p:nvPr/>
        </p:nvSpPr>
        <p:spPr>
          <a:xfrm>
            <a:off x="640080" y="26517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 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640080" y="2944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Your project is on the internet.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640080" y="3886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GitHub saves &amp; shares your code; Vercel puts it live and keeps it updated on every push. That's the real workflow.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Homework  ·  </a:t>
            </a:r>
            <a:r>
              <a:rPr b="0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push a project to GitHub, deploy on Vercel, and share your live link.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