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88950"/>
  <p:notesSz cx="6858000" cy="121889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a hook (2 min). Tell them: by the end of today, you'll have built a working app just by typing what you want. No coding. Have them open aistudio.google.com and sign in with Google now.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Define it simply. Karpathy coined 'vibe coding' in early 2025 — 'forget the code even exists.' Stress the shift: building software used to take years of training; now it's a conversation.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Crucial for a mixed-field audience — head off the 'I'm not technical' worry immediately. Make eye contact (figuratively) with the non-CS majority: this is for YOU.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Have everyone open the link and sign in. The link is on the slide. Mention: free tier uses Gemini Flash (plenty for us); Pro is paid. Apps are private — a real advantage over some rivals.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Walk the five steps. The key habit: react to the running APP, not the code. Iterate one change at a time. Mention it self-tests and fixes errors — that's why it feels like a fast junior developer.</a:t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This is the transferable skill. The recipe: what it is + the actions + what it remembers. Same 'be specific' lesson from Week 1, applied to apps. Demo vague ('make an app') vs concrete.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8-10 min. THE centrepiece demo. Paste the prompt live and narrate as it builds. Then iterate out loud ('add dark mode'). Flashcards are a proven-reliable build. Have a pre-built version saved as a fallback in case generation is slow.</a:t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Show the conversational editing — this is what makes people gasp. Emphasise: ONE change at a time, and run the app between changes so you can see what each did.</a:t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 min hands-on — hold the full time. Everyone builds a to-do app, then makes one change. Walk the chat, celebrate first builds. The 'I made an app!' moment is the high point of the whole week.</a:t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 slide (use during demos/activities). Each prompt is paste-ready. Pick whichever fits the room's energy. The timer and splitter build fast and reliably — good for quick live wins.</a:t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 slide. More paste-ready prompts. Encourage students to pick one that's useful for THEIR field, or to invent their own using the describe-it recipe.</a:t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 min. This is the 'whoa' upgrade — apps that think. DEMO the AI flashcard generator. Heads-up: these may prompt for a free Gemini API key, so set that up beforehand. Keep student hands-on to the simpler non-AI apps to avoid key friction.</a:t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 — the big build block. This fills real time: building + iterating + getting it working. End with a share round: call on 3-4 students to describe (or screen-share) what they made.</a:t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Show the share link working — open your app on your phone via the link to prove it's real. Mention Remix from the gallery as the fastest way to start: copy a working app and tweak it.</a:t>
            </a:r>
            <a:endParaRPr/>
          </a:p>
        </p:txBody>
      </p:sp>
      <p:sp>
        <p:nvSpPr>
          <p:cNvPr id="285" name="Google Shape;2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min. Normalise breakage — it's expected, not failure. The fix is conversational. Be honest: vibe coding is brilliant for prototypes; for anything high-stakes, a human should review the logic.</a:t>
            </a:r>
            <a:endParaRPr/>
          </a:p>
        </p:txBody>
      </p:sp>
      <p:sp>
        <p:nvSpPr>
          <p:cNvPr id="308" name="Google Shape;3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Quick landscape so they know AI Studio isn't the only option. Claude Artifacts is the easiest to try since they already use Claude. The skill transfers across all of them.</a:t>
            </a:r>
            <a:endParaRPr/>
          </a:p>
        </p:txBody>
      </p:sp>
      <p:sp>
        <p:nvSpPr>
          <p:cNvPr id="322" name="Google Shape;32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 min. Ask the room: what would YOU build for your subject? A few shout-outs. The point: this is a general-purpose superpower, not just for tech students.</a:t>
            </a:r>
            <a:endParaRPr/>
          </a:p>
        </p:txBody>
      </p:sp>
      <p:sp>
        <p:nvSpPr>
          <p:cNvPr id="360" name="Google Shape;36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 min. Stay balanced: this is genuinely powerful and genuinely limited. Perfect for learning, prototyping, and personal tools. Not a replacement for engineering on serious products — yet.</a:t>
            </a:r>
            <a:endParaRPr/>
          </a:p>
        </p:txBody>
      </p:sp>
      <p:sp>
        <p:nvSpPr>
          <p:cNvPr id="397" name="Google Shape;39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min. Big finish — they went from 'I can't code' to shipping an app in 90 minutes. Set the homework: one small useful app. Tease next week's audio &amp; video.</a:t>
            </a:r>
            <a:endParaRPr/>
          </a:p>
        </p:txBody>
      </p:sp>
      <p:sp>
        <p:nvSpPr>
          <p:cNvPr id="428" name="Google Shape;4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5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16.png"/><Relationship Id="rId7" Type="http://schemas.openxmlformats.org/officeDocument/2006/relationships/image" Target="../media/image26.png"/><Relationship Id="rId8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412480" y="-2011680"/>
            <a:ext cx="6217920" cy="6217920"/>
          </a:xfrm>
          <a:prstGeom prst="ellipse">
            <a:avLst/>
          </a:prstGeom>
          <a:solidFill>
            <a:srgbClr val="4F46E5">
              <a:alpha val="90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0" y="2651760"/>
            <a:ext cx="5486400" cy="5486400"/>
          </a:xfrm>
          <a:prstGeom prst="ellipse">
            <a:avLst/>
          </a:prstGeom>
          <a:solidFill>
            <a:srgbClr val="059669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1417320"/>
            <a:ext cx="1051560" cy="105156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970" y="1680210"/>
            <a:ext cx="525780" cy="5257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640080" y="272491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ACTAI  ·  WEEK 02  ·  LECTURE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2999232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800"/>
              <a:buFont typeface="Georgia"/>
              <a:buNone/>
            </a:pPr>
            <a:r>
              <a:rPr b="1" i="0" lang="en-US" sz="5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Vibe Coding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418795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 real apps by describing them — no coding required. With Google AI Studio.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640080" y="5102352"/>
            <a:ext cx="5029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640080" y="523951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 hands-on build-along — have aistudio.google.com open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BIG IDEA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vibe coding?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691640"/>
            <a:ext cx="10908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You describe the app you want in plain English, and AI writes all the code and builds it for you. You just steer.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2743200"/>
            <a:ext cx="3361944" cy="233172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51560" y="3154680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870" y="334899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1051560" y="406908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You describe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51560" y="4526280"/>
            <a:ext cx="2538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“Make me a flashcard app” — in normal words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13504" y="2743200"/>
            <a:ext cx="3361944" cy="233172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24984" y="3154680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9294" y="334899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4824984" y="406908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AI builds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24984" y="4526280"/>
            <a:ext cx="2538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writes the code and shows a working app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186928" y="2743200"/>
            <a:ext cx="3361944" cy="233172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598408" y="3154680"/>
            <a:ext cx="777240" cy="77724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2718" y="334899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8598408" y="406908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You steer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598408" y="4526280"/>
            <a:ext cx="2538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“make it dark mode” — and it updates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5285232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The term was coined in 2025 and named Word of the Year — because it changed who gets to build software.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DON'T WORRY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built for non-coders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1920240"/>
            <a:ext cx="5225796" cy="2926080"/>
          </a:xfrm>
          <a:prstGeom prst="roundRect">
            <a:avLst>
              <a:gd fmla="val 3750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051560" y="228600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1965960" y="2377440"/>
            <a:ext cx="36713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 DON'T need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097280" y="3291840"/>
            <a:ext cx="431139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programming languages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syntax to memorise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installing anything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prior tech background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323076" y="1920240"/>
            <a:ext cx="5225796" cy="2926080"/>
          </a:xfrm>
          <a:prstGeom prst="roundRect">
            <a:avLst>
              <a:gd fmla="val 3750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734556" y="228600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7436" y="24688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7648956" y="2377440"/>
            <a:ext cx="36713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 DO need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780276" y="3291840"/>
            <a:ext cx="431139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clear idea of what you want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ability to describe 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Patience to iterate a few times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Google account (free)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516636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Whatever you study, you can build a tool for it today. Experts can peek at the code; you don't have 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TOOL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Meet Google AI Studio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40080" y="1874520"/>
            <a:ext cx="10908792" cy="1371600"/>
          </a:xfrm>
          <a:prstGeom prst="roundRect">
            <a:avLst>
              <a:gd fmla="val 8000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051560" y="2148840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870" y="23431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2103120" y="21945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aistudio.google.com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2103120" y="2697480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Free with a Google account — open the Build / vibe-code area and start. Nothing to install.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40080" y="3520440"/>
            <a:ext cx="3361944" cy="1645920"/>
          </a:xfrm>
          <a:prstGeom prst="roundRect">
            <a:avLst>
              <a:gd fmla="val 611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960120" y="384048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140" y="40005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1737360" y="3831336"/>
            <a:ext cx="2081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Free to 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60120" y="4434840"/>
            <a:ext cx="2813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Runs on Gemini Flash for free; great for learning &amp; prototypes.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413504" y="3520440"/>
            <a:ext cx="3361944" cy="1645920"/>
          </a:xfrm>
          <a:prstGeom prst="roundRect">
            <a:avLst>
              <a:gd fmla="val 611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733544" y="38404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3564" y="40005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5510784" y="3831336"/>
            <a:ext cx="2081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Private by default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733544" y="4434840"/>
            <a:ext cx="2813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Your apps stay private — unlike many free competitors.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186928" y="3520440"/>
            <a:ext cx="3361944" cy="1645920"/>
          </a:xfrm>
          <a:prstGeom prst="roundRect">
            <a:avLst>
              <a:gd fmla="val 611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506968" y="38404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6988" y="40005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9284208" y="3831336"/>
            <a:ext cx="2081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Full app, instantly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506968" y="4434840"/>
            <a:ext cx="28133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builds the screens and the logic, then runs it live.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 build loop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0080" y="2286000"/>
            <a:ext cx="1962302" cy="2468880"/>
          </a:xfrm>
          <a:prstGeom prst="roundRect">
            <a:avLst>
              <a:gd fmla="val 559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255471" y="265176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255471" y="26517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731520" y="3566160"/>
            <a:ext cx="1779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Describe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731520" y="3977640"/>
            <a:ext cx="1779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say what you want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492654" y="2788920"/>
            <a:ext cx="493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876702" y="2286000"/>
            <a:ext cx="1962302" cy="2468880"/>
          </a:xfrm>
          <a:prstGeom prst="roundRect">
            <a:avLst>
              <a:gd fmla="val 559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3492094" y="2651760"/>
            <a:ext cx="731520" cy="73152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3492094" y="26517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968142" y="3566160"/>
            <a:ext cx="1779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968142" y="3977640"/>
            <a:ext cx="1779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it builds &amp; runs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729277" y="2788920"/>
            <a:ext cx="493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113325" y="2286000"/>
            <a:ext cx="1962302" cy="2468880"/>
          </a:xfrm>
          <a:prstGeom prst="roundRect">
            <a:avLst>
              <a:gd fmla="val 559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728716" y="2651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728716" y="26517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204765" y="3566160"/>
            <a:ext cx="1779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204765" y="3977640"/>
            <a:ext cx="1779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look at the 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965899" y="2788920"/>
            <a:ext cx="493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349947" y="2286000"/>
            <a:ext cx="1962302" cy="2468880"/>
          </a:xfrm>
          <a:prstGeom prst="roundRect">
            <a:avLst>
              <a:gd fmla="val 559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965338" y="26517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965338" y="26517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441387" y="3566160"/>
            <a:ext cx="1779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Iterate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441387" y="3977640"/>
            <a:ext cx="1779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ask for changes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9202522" y="2788920"/>
            <a:ext cx="4937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9586570" y="2286000"/>
            <a:ext cx="1962302" cy="2468880"/>
          </a:xfrm>
          <a:prstGeom prst="roundRect">
            <a:avLst>
              <a:gd fmla="val 5592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0201961" y="265176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0201961" y="265176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9678010" y="3566160"/>
            <a:ext cx="17794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Deploy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9678010" y="3977640"/>
            <a:ext cx="177942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share or publish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40080" y="507492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The agent even runs and tests the app itself, fixes what breaks, then shows you the result.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891B2"/>
                </a:solidFill>
                <a:latin typeface="Trebuchet MS"/>
                <a:ea typeface="Trebuchet MS"/>
                <a:cs typeface="Trebuchet MS"/>
                <a:sym typeface="Trebuchet MS"/>
              </a:rPr>
              <a:t>THE ONE SKILL THAT MATTERS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How to describe an app well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40080" y="1828800"/>
            <a:ext cx="10908792" cy="3246120"/>
          </a:xfrm>
          <a:prstGeom prst="roundRect">
            <a:avLst>
              <a:gd fmla="val 3944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1097280" y="2194560"/>
            <a:ext cx="868680" cy="86868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241173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2194560" y="2240280"/>
            <a:ext cx="8805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Vague prompts get vague apps. Be concrete about three things: the screens, the actions, and what should be remembered.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188720" y="3246120"/>
            <a:ext cx="98115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it is — 'a flashcard study app'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actions — 'create decks, add cards, flip to study'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persists — 'remember which cards I got wrong'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Then change ONE thing at a time as you iterate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0080" y="5257800"/>
            <a:ext cx="10908792" cy="566928"/>
          </a:xfrm>
          <a:prstGeom prst="roundRect">
            <a:avLst>
              <a:gd fmla="val 14516" name="adj"/>
            </a:avLst>
          </a:prstGeom>
          <a:solidFill>
            <a:srgbClr val="E5F4F8"/>
          </a:solidFill>
          <a:ln cap="flat" cmpd="sng" w="12700">
            <a:solidFill>
              <a:srgbClr val="BF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005840" y="5257800"/>
            <a:ext cx="101772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DEMO LIVE: 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Show a vague prompt vs a concrete one and the difference in the result.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WATCH THIS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Live build: a flashcard app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40080" y="1645920"/>
            <a:ext cx="10908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Paste this prompt into AI Studio and watch it build a working app in front of you.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40080" y="2148840"/>
            <a:ext cx="10908792" cy="1371600"/>
          </a:xfrm>
          <a:prstGeom prst="roundRect">
            <a:avLst>
              <a:gd fmla="val 6667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868680" y="2276856"/>
            <a:ext cx="10451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BUILD PROMPT — paste into AI Studio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868680" y="2569464"/>
            <a:ext cx="10451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flashcard study app. I can create decks, add cards with a front and a back, then study a deck by flipping each card on click. Mark cards I get wrong so they show up more often. Clean, friendly design.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40080" y="3840480"/>
            <a:ext cx="3392424" cy="178308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960120" y="4160520"/>
            <a:ext cx="640080" cy="6400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/>
          <p:nvPr/>
        </p:nvSpPr>
        <p:spPr>
          <a:xfrm>
            <a:off x="1737360" y="4151376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It builds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60120" y="4800600"/>
            <a:ext cx="28437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real, running flashcard app appears in the preview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398264" y="3840480"/>
            <a:ext cx="3392424" cy="178308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718304" y="4160520"/>
            <a:ext cx="640080" cy="64008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8324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5495544" y="4151376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Then we tweak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718304" y="4800600"/>
            <a:ext cx="28437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'add a dark mode' · 'shuffle the cards'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156448" y="3840480"/>
            <a:ext cx="3392424" cy="1783080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8476488" y="41605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/>
          <p:nvPr/>
        </p:nvSpPr>
        <p:spPr>
          <a:xfrm>
            <a:off x="9253728" y="4151376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Then we share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476488" y="4800600"/>
            <a:ext cx="284378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link, no account needed to try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Trebuchet MS"/>
                <a:ea typeface="Trebuchet MS"/>
                <a:cs typeface="Trebuchet MS"/>
                <a:sym typeface="Trebuchet MS"/>
              </a:rPr>
              <a:t>THE MAGIC PART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Change it just by talking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40080" y="1828800"/>
            <a:ext cx="10908792" cy="3246120"/>
          </a:xfrm>
          <a:prstGeom prst="roundRect">
            <a:avLst>
              <a:gd fmla="val 3944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097280" y="2194560"/>
            <a:ext cx="868680" cy="86868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241173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2194560" y="2240280"/>
            <a:ext cx="8805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Don't like something? Describe the change in plain words and it rebuilds that part. No need to start over.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188720" y="3246120"/>
            <a:ext cx="98115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“Make the buttons bigger and blue”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“Add a score counter at the top”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“Shuffle the order each time”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“Add a dark mode toggle”  —  one change at a time works best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40080" y="5257800"/>
            <a:ext cx="10908792" cy="566928"/>
          </a:xfrm>
          <a:prstGeom prst="roundRect">
            <a:avLst>
              <a:gd fmla="val 14516" name="adj"/>
            </a:avLst>
          </a:prstGeom>
          <a:solidFill>
            <a:srgbClr val="F3ECFE"/>
          </a:solidFill>
          <a:ln cap="flat" cmpd="sng" w="12700">
            <a:solidFill>
              <a:srgbClr val="E2D2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005840" y="5257800"/>
            <a:ext cx="101772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DEMO LIVE: 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Take the flashcard app and make 2-3 changes live by just asking.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BUILD-ALONG · ACTIVITY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Build your first app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40080" y="196596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1554480" y="19659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Try it now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40080" y="2743200"/>
            <a:ext cx="1600200" cy="566928"/>
          </a:xfrm>
          <a:prstGeom prst="roundRect">
            <a:avLst>
              <a:gd fmla="val 16129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8712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1207008" y="274320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12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40080" y="3611880"/>
            <a:ext cx="53949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Open AI Studio's build area.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Paste the starter prompt on the right.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Watch it build, then try the app.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Ask for ONE change you'd like.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Run it again to see what changed.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400800" y="1920240"/>
            <a:ext cx="5148072" cy="3794760"/>
          </a:xfrm>
          <a:prstGeom prst="roundRect">
            <a:avLst>
              <a:gd fmla="val 3373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6720840" y="2176272"/>
            <a:ext cx="4507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STARTER PROMPT — PASTE THIS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720840" y="2670048"/>
            <a:ext cx="450799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Consolas"/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simple to-do list app. I can add tasks, tick them off, and filter by all / active / done. Remember my list.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6720840" y="4178808"/>
            <a:ext cx="45079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Then try one change, e.g.: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720840" y="4599432"/>
            <a:ext cx="45079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“add a dark mode toggle”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BUILD THESE 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App ideas — set 1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640080" y="1691640"/>
            <a:ext cx="10908792" cy="1371600"/>
          </a:xfrm>
          <a:prstGeom prst="roundRect">
            <a:avLst>
              <a:gd fmla="val 733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932688" y="2075688"/>
            <a:ext cx="603504" cy="603504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" y="22265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"/>
          <p:cNvSpPr/>
          <p:nvPr/>
        </p:nvSpPr>
        <p:spPr>
          <a:xfrm>
            <a:off x="1737360" y="1856232"/>
            <a:ext cx="9537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Pomodoro study timer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737360" y="2258568"/>
            <a:ext cx="9491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PASTE: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25-minute Pomodoro study timer with start, pause and reset, a circular progress ring, and a gentle chime when time is 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40080" y="3227832"/>
            <a:ext cx="10908792" cy="1371600"/>
          </a:xfrm>
          <a:prstGeom prst="roundRect">
            <a:avLst>
              <a:gd fmla="val 733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932688" y="3611880"/>
            <a:ext cx="603504" cy="603504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564" y="37627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2"/>
          <p:cNvSpPr/>
          <p:nvPr/>
        </p:nvSpPr>
        <p:spPr>
          <a:xfrm>
            <a:off x="1737360" y="3392424"/>
            <a:ext cx="9537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Bill &amp; tip splitter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737360" y="3794760"/>
            <a:ext cx="9491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PASTE: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bill splitter: I enter the total and the number of people and pick a tip %, and it shows how much each person pays.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40080" y="4764024"/>
            <a:ext cx="10908792" cy="1371600"/>
          </a:xfrm>
          <a:prstGeom prst="roundRect">
            <a:avLst>
              <a:gd fmla="val 733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932688" y="5148072"/>
            <a:ext cx="603504" cy="603504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564" y="529894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1737360" y="4928616"/>
            <a:ext cx="9537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Quiz game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737360" y="5330952"/>
            <a:ext cx="9491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PASTE: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10-question multiple-choice general-knowledge quiz that keeps score, gives feedback after each answer, and shows my final result.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BUILD THESE 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App ideas — set 2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40080" y="1691640"/>
            <a:ext cx="10908792" cy="1371600"/>
          </a:xfrm>
          <a:prstGeom prst="roundRect">
            <a:avLst>
              <a:gd fmla="val 733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932688" y="2075688"/>
            <a:ext cx="603504" cy="603504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564" y="22265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/>
          <p:nvPr/>
        </p:nvSpPr>
        <p:spPr>
          <a:xfrm>
            <a:off x="1737360" y="1856232"/>
            <a:ext cx="9537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Daily habit tracker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737360" y="2258568"/>
            <a:ext cx="9491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059669"/>
                </a:solidFill>
                <a:latin typeface="Consolas"/>
                <a:ea typeface="Consolas"/>
                <a:cs typeface="Consolas"/>
                <a:sym typeface="Consolas"/>
              </a:rPr>
              <a:t>PASTE: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daily habit tracker: I add habits, tick them off each day, and it shows my current streak for each one. Remember my habits.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40080" y="3227832"/>
            <a:ext cx="10908792" cy="1371600"/>
          </a:xfrm>
          <a:prstGeom prst="roundRect">
            <a:avLst>
              <a:gd fmla="val 733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932688" y="3611880"/>
            <a:ext cx="603504" cy="603504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" name="Google Shape;24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564" y="37627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/>
          <p:nvPr/>
        </p:nvSpPr>
        <p:spPr>
          <a:xfrm>
            <a:off x="1737360" y="3392424"/>
            <a:ext cx="9537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Mood journal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1737360" y="3794760"/>
            <a:ext cx="9491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E11D48"/>
                </a:solidFill>
                <a:latin typeface="Consolas"/>
                <a:ea typeface="Consolas"/>
                <a:cs typeface="Consolas"/>
                <a:sym typeface="Consolas"/>
              </a:rPr>
              <a:t>PASTE: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mood journal: I pick today's mood with an emoji and add a short note, and I can see past entries laid out on a calendar.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40080" y="4764024"/>
            <a:ext cx="10908792" cy="1371600"/>
          </a:xfrm>
          <a:prstGeom prst="roundRect">
            <a:avLst>
              <a:gd fmla="val 7333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932688" y="5148072"/>
            <a:ext cx="603504" cy="603504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564" y="5298948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3"/>
          <p:cNvSpPr/>
          <p:nvPr/>
        </p:nvSpPr>
        <p:spPr>
          <a:xfrm>
            <a:off x="1737360" y="4928616"/>
            <a:ext cx="95371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Flashcard maker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1737360" y="5330952"/>
            <a:ext cx="9491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4F46E5"/>
                </a:solidFill>
                <a:latin typeface="Consolas"/>
                <a:ea typeface="Consolas"/>
                <a:cs typeface="Consolas"/>
                <a:sym typeface="Consolas"/>
              </a:rPr>
              <a:t>PASTE:  </a:t>
            </a:r>
            <a:r>
              <a:rPr b="0" i="0" lang="en-US" sz="12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A flashcard app: create decks, add cards with a front and back, study by flipping, and review the ones I mark wrong more often.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NEXT LEVEL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Build apps that use AI inside them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40080" y="1828800"/>
            <a:ext cx="10908792" cy="3246120"/>
          </a:xfrm>
          <a:prstGeom prst="roundRect">
            <a:avLst>
              <a:gd fmla="val 3944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1097280" y="2194560"/>
            <a:ext cx="868680" cy="86868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241173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4"/>
          <p:cNvSpPr/>
          <p:nvPr/>
        </p:nvSpPr>
        <p:spPr>
          <a:xfrm>
            <a:off x="2194560" y="2240280"/>
            <a:ext cx="8805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Because Gemini is built in, AI Studio is especially good at apps that are themselves powered by AI — not just static tools.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188720" y="3246120"/>
            <a:ext cx="98115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“An AI flashcard generator: I type a topic and it creates 10 cards”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“A 'simplify this' app: paste text, it rewrites it plainly”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“A travel phrase app: pick a language, get 10 useful phrases”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Note: AI-powered apps may need a quick free API key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640080" y="5257800"/>
            <a:ext cx="10908792" cy="566928"/>
          </a:xfrm>
          <a:prstGeom prst="roundRect">
            <a:avLst>
              <a:gd fmla="val 14516" name="adj"/>
            </a:avLst>
          </a:prstGeom>
          <a:solidFill>
            <a:srgbClr val="EEF1FE"/>
          </a:solidFill>
          <a:ln cap="flat" cmpd="sng" w="12700">
            <a:solidFill>
              <a:srgbClr val="DDE3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1005840" y="5257800"/>
            <a:ext cx="101772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DEMO LIVE: 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Build the AI flashcard generator — type a topic, watch it make cards.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BUILD-ALONG · ACTIVITY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Build something useful to you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40080" y="196596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5"/>
          <p:cNvSpPr/>
          <p:nvPr/>
        </p:nvSpPr>
        <p:spPr>
          <a:xfrm>
            <a:off x="1554480" y="196596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Try it now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640080" y="2743200"/>
            <a:ext cx="1600200" cy="566928"/>
          </a:xfrm>
          <a:prstGeom prst="roundRect">
            <a:avLst>
              <a:gd fmla="val 16129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28712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/>
          <p:nvPr/>
        </p:nvSpPr>
        <p:spPr>
          <a:xfrm>
            <a:off x="1207008" y="274320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15 min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40080" y="3611880"/>
            <a:ext cx="53949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Pick an idea from the menu — or invent your own.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 the recipe: what it is + actions + what it remembers.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 it, then make it yours with 2–3 tweaks.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Get it working end to end.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6400800" y="1920240"/>
            <a:ext cx="5148072" cy="3794760"/>
          </a:xfrm>
          <a:prstGeom prst="roundRect">
            <a:avLst>
              <a:gd fmla="val 3373" name="adj"/>
            </a:avLst>
          </a:prstGeom>
          <a:solidFill>
            <a:srgbClr val="E7F6EF"/>
          </a:solidFill>
          <a:ln cap="flat" cmpd="sng" w="12700">
            <a:solidFill>
              <a:srgbClr val="CDEBD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6720840" y="2176272"/>
            <a:ext cx="4507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Trebuchet MS"/>
              <a:buNone/>
            </a:pPr>
            <a:r>
              <a:rPr b="1" i="0" lang="en-US" sz="115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MAKE IT YOURS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6720840" y="2670048"/>
            <a:ext cx="45079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Pick something you'd actually use in your studies or life.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6720840" y="3383280"/>
            <a:ext cx="45079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Recipe reminder: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720840" y="3739896"/>
            <a:ext cx="45079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what it is + the actions + what it remembers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720840" y="4379976"/>
            <a:ext cx="4507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Stuck? Just tell the app what's wrong and let it fix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SHIP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Share &amp; publish your app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640080" y="1920240"/>
            <a:ext cx="3361944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1051560" y="2286000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870" y="24803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6"/>
          <p:cNvSpPr/>
          <p:nvPr/>
        </p:nvSpPr>
        <p:spPr>
          <a:xfrm>
            <a:off x="1051560" y="320040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Share a link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051560" y="3703320"/>
            <a:ext cx="25389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Send a private link — people try it with no account needed.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4413504" y="1920240"/>
            <a:ext cx="3361944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4824984" y="2286000"/>
            <a:ext cx="777240" cy="777240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9294" y="24803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6"/>
          <p:cNvSpPr/>
          <p:nvPr/>
        </p:nvSpPr>
        <p:spPr>
          <a:xfrm>
            <a:off x="4824984" y="320040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Deploy to the web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4824984" y="3703320"/>
            <a:ext cx="25389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One click hosts it live on Google Cloud Run with a real URL.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8186928" y="1920240"/>
            <a:ext cx="3361944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8598408" y="2286000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2718" y="24803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6"/>
          <p:cNvSpPr/>
          <p:nvPr/>
        </p:nvSpPr>
        <p:spPr>
          <a:xfrm>
            <a:off x="8598408" y="3200400"/>
            <a:ext cx="2538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Save the code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8598408" y="3703320"/>
            <a:ext cx="25389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Export to GitHub — the actual code is yours to keep.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640080" y="4754880"/>
            <a:ext cx="10908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Tip: 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explore the App Gallery and hit 'Remix' to copy an existing app and make it your own.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11D48"/>
                </a:solidFill>
                <a:latin typeface="Trebuchet MS"/>
                <a:ea typeface="Trebuchet MS"/>
                <a:cs typeface="Trebuchet MS"/>
                <a:sym typeface="Trebuchet MS"/>
              </a:rPr>
              <a:t>IT WON'T ALWAYS BE PERFECT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When it breaks, just talk to it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640080" y="1828800"/>
            <a:ext cx="10908792" cy="3246120"/>
          </a:xfrm>
          <a:prstGeom prst="roundRect">
            <a:avLst>
              <a:gd fmla="val 3944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1097280" y="2194560"/>
            <a:ext cx="868680" cy="86868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241173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7"/>
          <p:cNvSpPr/>
          <p:nvPr/>
        </p:nvSpPr>
        <p:spPr>
          <a:xfrm>
            <a:off x="2194560" y="2240280"/>
            <a:ext cx="8805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Vibe-coded apps sometimes glitch. You fix them the same way you built them — by describing the problem.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188720" y="3246120"/>
            <a:ext cx="98115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“The save button doesn't work — please fix it”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“The layout breaks on mobile, make it responsive”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Change one thing at a time so you can see what helped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anything important, still get the logic checked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640080" y="5257800"/>
            <a:ext cx="10908792" cy="566928"/>
          </a:xfrm>
          <a:prstGeom prst="roundRect">
            <a:avLst>
              <a:gd fmla="val 14516" name="adj"/>
            </a:avLst>
          </a:prstGeom>
          <a:solidFill>
            <a:srgbClr val="FDEEF1"/>
          </a:solidFill>
          <a:ln cap="flat" cmpd="sng" w="12700">
            <a:solidFill>
              <a:srgbClr val="F6D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1005840" y="5257800"/>
            <a:ext cx="1017727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11D48"/>
                </a:solidFill>
                <a:latin typeface="Calibri"/>
                <a:ea typeface="Calibri"/>
                <a:cs typeface="Calibri"/>
                <a:sym typeface="Calibri"/>
              </a:rPr>
              <a:t>DEMO LIVE: 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Break something on purpose, then fix it by describing the issue.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THE LANDSCAPE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Other vibe-coding tools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640080" y="1874520"/>
            <a:ext cx="3392424" cy="1463040"/>
          </a:xfrm>
          <a:prstGeom prst="roundRect">
            <a:avLst>
              <a:gd fmla="val 687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960120" y="2167128"/>
            <a:ext cx="621792" cy="621792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568" y="23225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/>
          <p:nvPr/>
        </p:nvSpPr>
        <p:spPr>
          <a:xfrm>
            <a:off x="1737360" y="2130552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Artifacts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1737360" y="2587752"/>
            <a:ext cx="2112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 small apps right inside a chat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4398264" y="1874520"/>
            <a:ext cx="3392424" cy="1463040"/>
          </a:xfrm>
          <a:prstGeom prst="roundRect">
            <a:avLst>
              <a:gd fmla="val 687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4718304" y="2167128"/>
            <a:ext cx="621792" cy="621792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3752" y="23225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8"/>
          <p:cNvSpPr/>
          <p:nvPr/>
        </p:nvSpPr>
        <p:spPr>
          <a:xfrm>
            <a:off x="5495544" y="2130552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Bolt.new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5495544" y="2587752"/>
            <a:ext cx="2112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prompt-to-app, fast full-stack builds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8156448" y="1874520"/>
            <a:ext cx="3392424" cy="1463040"/>
          </a:xfrm>
          <a:prstGeom prst="roundRect">
            <a:avLst>
              <a:gd fmla="val 687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8476488" y="2167128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1936" y="232257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8"/>
          <p:cNvSpPr/>
          <p:nvPr/>
        </p:nvSpPr>
        <p:spPr>
          <a:xfrm>
            <a:off x="9253728" y="2130552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Lovable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9253728" y="2587752"/>
            <a:ext cx="2112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loved for polished, pretty UIs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40080" y="3611880"/>
            <a:ext cx="3392424" cy="1463040"/>
          </a:xfrm>
          <a:prstGeom prst="roundRect">
            <a:avLst>
              <a:gd fmla="val 687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960120" y="3904488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5568" y="4059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8"/>
          <p:cNvSpPr/>
          <p:nvPr/>
        </p:nvSpPr>
        <p:spPr>
          <a:xfrm>
            <a:off x="1737360" y="3867912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Replit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1737360" y="4325112"/>
            <a:ext cx="2112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build, run &amp; host, all in the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398264" y="3611880"/>
            <a:ext cx="3392424" cy="1463040"/>
          </a:xfrm>
          <a:prstGeom prst="roundRect">
            <a:avLst>
              <a:gd fmla="val 687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4718304" y="3904488"/>
            <a:ext cx="621792" cy="621792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73752" y="4059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8"/>
          <p:cNvSpPr/>
          <p:nvPr/>
        </p:nvSpPr>
        <p:spPr>
          <a:xfrm>
            <a:off x="5495544" y="3867912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v0 by Vercel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495544" y="4325112"/>
            <a:ext cx="2112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great for web interfaces &amp;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8156448" y="3611880"/>
            <a:ext cx="3392424" cy="1463040"/>
          </a:xfrm>
          <a:prstGeom prst="roundRect">
            <a:avLst>
              <a:gd fmla="val 6875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/>
          <p:nvPr/>
        </p:nvSpPr>
        <p:spPr>
          <a:xfrm>
            <a:off x="8476488" y="3904488"/>
            <a:ext cx="621792" cy="621792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31936" y="4059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8"/>
          <p:cNvSpPr/>
          <p:nvPr/>
        </p:nvSpPr>
        <p:spPr>
          <a:xfrm>
            <a:off x="9253728" y="3867912"/>
            <a:ext cx="2112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Trebuchet MS"/>
              <a:buNone/>
            </a:pPr>
            <a:r>
              <a:rPr b="1" i="0" lang="en-US" sz="155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Cursor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9253728" y="4325112"/>
            <a:ext cx="21122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when you want to go deeper into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4F46E5"/>
                </a:solidFill>
                <a:latin typeface="Calibri"/>
                <a:ea typeface="Calibri"/>
                <a:cs typeface="Calibri"/>
                <a:sym typeface="Calibri"/>
              </a:rPr>
              <a:t>Same idea everywhere: describe, build, iterate. Learn one and the rest feel familiar.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FOR EVERY FIELD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 could build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640080" y="1828800"/>
            <a:ext cx="339242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960120" y="21488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712" y="23134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9"/>
          <p:cNvSpPr/>
          <p:nvPr/>
        </p:nvSpPr>
        <p:spPr>
          <a:xfrm>
            <a:off x="1783080" y="212140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1783080" y="2596896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study tools, quiz makers, revision trackers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4398264" y="1828800"/>
            <a:ext cx="339242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4718304" y="2148840"/>
            <a:ext cx="658368" cy="658368"/>
          </a:xfrm>
          <a:prstGeom prst="ellipse">
            <a:avLst/>
          </a:prstGeom>
          <a:solidFill>
            <a:srgbClr val="0891B2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96" y="23134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9"/>
          <p:cNvSpPr/>
          <p:nvPr/>
        </p:nvSpPr>
        <p:spPr>
          <a:xfrm>
            <a:off x="5541264" y="212140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Business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5541264" y="2596896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calculators, dashboards, client mini-tools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8156448" y="1828800"/>
            <a:ext cx="339242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8476488" y="2148840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6" name="Google Shape;3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1080" y="231343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9"/>
          <p:cNvSpPr/>
          <p:nvPr/>
        </p:nvSpPr>
        <p:spPr>
          <a:xfrm>
            <a:off x="9299448" y="212140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Any subject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9299448" y="2596896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interactive demos of a concept you're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640080" y="3749040"/>
            <a:ext cx="339242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/>
          <p:nvPr/>
        </p:nvSpPr>
        <p:spPr>
          <a:xfrm>
            <a:off x="960120" y="4069080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1" name="Google Shape;38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4712" y="42336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9"/>
          <p:cNvSpPr/>
          <p:nvPr/>
        </p:nvSpPr>
        <p:spPr>
          <a:xfrm>
            <a:off x="1783080" y="404164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Personal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1783080" y="4517136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habit trackers, planners, budget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4398264" y="3749040"/>
            <a:ext cx="339242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"/>
          <p:cNvSpPr/>
          <p:nvPr/>
        </p:nvSpPr>
        <p:spPr>
          <a:xfrm>
            <a:off x="4718304" y="4069080"/>
            <a:ext cx="658368" cy="658368"/>
          </a:xfrm>
          <a:prstGeom prst="ellipse">
            <a:avLst/>
          </a:prstGeom>
          <a:solidFill>
            <a:srgbClr val="059669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6" name="Google Shape;38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82896" y="42336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9"/>
          <p:cNvSpPr/>
          <p:nvPr/>
        </p:nvSpPr>
        <p:spPr>
          <a:xfrm>
            <a:off x="5541264" y="404164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Side projects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5541264" y="4517136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prototype an app idea before paying anyone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8156448" y="3749040"/>
            <a:ext cx="3392424" cy="1600200"/>
          </a:xfrm>
          <a:prstGeom prst="roundRect">
            <a:avLst>
              <a:gd fmla="val 6286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9"/>
          <p:cNvSpPr/>
          <p:nvPr/>
        </p:nvSpPr>
        <p:spPr>
          <a:xfrm>
            <a:off x="8476488" y="4069080"/>
            <a:ext cx="658368" cy="658368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1" name="Google Shape;39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41080" y="42336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/>
          <p:nvPr/>
        </p:nvSpPr>
        <p:spPr>
          <a:xfrm>
            <a:off x="9299448" y="4041648"/>
            <a:ext cx="20665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Just for fun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9299448" y="4517136"/>
            <a:ext cx="2112264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games, generators, gifts for friends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/>
          <p:nvPr/>
        </p:nvSpPr>
        <p:spPr>
          <a:xfrm>
            <a:off x="640080" y="502920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1250"/>
              <a:buFont typeface="Trebuchet MS"/>
              <a:buNone/>
            </a:pPr>
            <a:r>
              <a:rPr b="1" i="0" lang="en-US" sz="1250" u="none" cap="none" strike="noStrike">
                <a:solidFill>
                  <a:srgbClr val="E11D48"/>
                </a:solidFill>
                <a:latin typeface="Trebuchet MS"/>
                <a:ea typeface="Trebuchet MS"/>
                <a:cs typeface="Trebuchet MS"/>
                <a:sym typeface="Trebuchet MS"/>
              </a:rPr>
              <a:t>KEEP IT REAL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640080" y="795528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900"/>
              <a:buFont typeface="Trebuchet MS"/>
              <a:buNone/>
            </a:pPr>
            <a:r>
              <a:rPr b="1" i="0" lang="en-US" sz="29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Honest tradeoffs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640080" y="187452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640080" y="198424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4" name="Google Shape;4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430" y="24345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0"/>
          <p:cNvSpPr/>
          <p:nvPr/>
        </p:nvSpPr>
        <p:spPr>
          <a:xfrm>
            <a:off x="1783080" y="219456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Great for prototypes, not everything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1783080" y="27889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Brilliant for demos and small tools; big production apps need more.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6323076" y="187452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6323076" y="198424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/>
          <p:nvPr/>
        </p:nvSpPr>
        <p:spPr>
          <a:xfrm>
            <a:off x="6688836" y="228600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7426" y="243459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0"/>
          <p:cNvSpPr/>
          <p:nvPr/>
        </p:nvSpPr>
        <p:spPr>
          <a:xfrm>
            <a:off x="7466076" y="219456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Free tier = Gemini Flash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7466076" y="27889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Plenty for learning; the top model and heavy use cost money.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640080" y="384048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640080" y="395020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1005840" y="425196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6" name="Google Shape;4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430" y="440055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0"/>
          <p:cNvSpPr/>
          <p:nvPr/>
        </p:nvSpPr>
        <p:spPr>
          <a:xfrm>
            <a:off x="1783080" y="41605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It can make mistakes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1783080" y="475488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anything important, get the logic reviewed by a human.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6323076" y="3840480"/>
            <a:ext cx="5225796" cy="16459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E6EAF3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475569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/>
          <p:nvPr/>
        </p:nvSpPr>
        <p:spPr>
          <a:xfrm>
            <a:off x="6323076" y="3950208"/>
            <a:ext cx="109728" cy="14264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6688836" y="4251960"/>
            <a:ext cx="594360" cy="594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7426" y="4400550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0"/>
          <p:cNvSpPr/>
          <p:nvPr/>
        </p:nvSpPr>
        <p:spPr>
          <a:xfrm>
            <a:off x="7466076" y="416052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Rate limits exist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7466076" y="4754880"/>
            <a:ext cx="385419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Heavy use can slow down — fine for a class, watch it at scale.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C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"/>
          <p:cNvSpPr/>
          <p:nvPr/>
        </p:nvSpPr>
        <p:spPr>
          <a:xfrm>
            <a:off x="7680960" y="-2377440"/>
            <a:ext cx="7132320" cy="7132320"/>
          </a:xfrm>
          <a:prstGeom prst="ellipse">
            <a:avLst/>
          </a:prstGeom>
          <a:solidFill>
            <a:srgbClr val="4F46E5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"/>
          <p:cNvSpPr/>
          <p:nvPr/>
        </p:nvSpPr>
        <p:spPr>
          <a:xfrm>
            <a:off x="-2560320" y="2743200"/>
            <a:ext cx="6583680" cy="6583680"/>
          </a:xfrm>
          <a:prstGeom prst="ellipse">
            <a:avLst/>
          </a:prstGeom>
          <a:solidFill>
            <a:srgbClr val="059669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4F46E5"/>
          </a:solidFill>
          <a:ln>
            <a:noFill/>
          </a:ln>
          <a:effectLst>
            <a:outerShdw blurRad="76200" rotWithShape="0" algn="bl" dir="5400000" dist="25400">
              <a:srgbClr val="1E293B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6687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1"/>
          <p:cNvSpPr/>
          <p:nvPr/>
        </p:nvSpPr>
        <p:spPr>
          <a:xfrm>
            <a:off x="640080" y="26517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LECTURE RECAP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640080" y="294436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You just became an app builder.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640080" y="38862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Describe it, watch it build, change it by talking, and share it — no coding required, all in your browser.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640080" y="50292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4F46E5"/>
                </a:solidFill>
                <a:latin typeface="Trebuchet MS"/>
                <a:ea typeface="Trebuchet MS"/>
                <a:cs typeface="Trebuchet MS"/>
                <a:sym typeface="Trebuchet MS"/>
              </a:rPr>
              <a:t>Homework  ·  </a:t>
            </a:r>
            <a:r>
              <a:rPr b="0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build one small app you'd actually use.    </a:t>
            </a:r>
            <a:r>
              <a:rPr b="1" i="0" lang="en-US" sz="1600" u="none" cap="none" strike="noStrike">
                <a:solidFill>
                  <a:srgbClr val="F59E0B"/>
                </a:solidFill>
                <a:latin typeface="Trebuchet MS"/>
                <a:ea typeface="Trebuchet MS"/>
                <a:cs typeface="Trebuchet MS"/>
                <a:sym typeface="Trebuchet MS"/>
              </a:rPr>
              <a:t>Next  —  </a:t>
            </a:r>
            <a:r>
              <a:rPr b="0" i="0" lang="en-US" sz="1600" u="none" cap="none" strike="noStrike">
                <a:solidFill>
                  <a:srgbClr val="0F172A"/>
                </a:solidFill>
                <a:latin typeface="Trebuchet MS"/>
                <a:ea typeface="Trebuchet MS"/>
                <a:cs typeface="Trebuchet MS"/>
                <a:sym typeface="Trebuchet MS"/>
              </a:rPr>
              <a:t>audio &amp; video generation.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